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7FF14DF-C092-4A9D-A855-62B2C41E5292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5" d="100"/>
          <a:sy n="75" d="100"/>
        </p:scale>
        <p:origin x="86" y="-10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715632AD-4BB8-7DAC-D425-6B9DE6C4F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56840" y="177800"/>
            <a:ext cx="6164653" cy="182880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Sign Language</a:t>
            </a:r>
            <a:endParaRPr lang="en-US" sz="5400" cap="none" dirty="0"/>
          </a:p>
        </p:txBody>
      </p:sp>
      <p:pic>
        <p:nvPicPr>
          <p:cNvPr id="12" name="Graphic 11" descr="Sign language with solid fill">
            <a:extLst>
              <a:ext uri="{FF2B5EF4-FFF2-40B4-BE49-F238E27FC236}">
                <a16:creationId xmlns:a16="http://schemas.microsoft.com/office/drawing/2014/main" id="{B701D693-CEA6-86E5-7127-D322932DD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7093" y="177800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08A4AF9-5AE3-688A-B5BB-D44A42844791}"/>
              </a:ext>
            </a:extLst>
          </p:cNvPr>
          <p:cNvSpPr txBox="1"/>
          <p:nvPr/>
        </p:nvSpPr>
        <p:spPr>
          <a:xfrm>
            <a:off x="325120" y="1743054"/>
            <a:ext cx="5943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Named : Nouran Romany </a:t>
            </a:r>
            <a:r>
              <a:rPr lang="en-US" sz="2400" dirty="0" err="1"/>
              <a:t>ishak</a:t>
            </a:r>
            <a:r>
              <a:rPr lang="en-US" sz="2400" dirty="0"/>
              <a:t> </a:t>
            </a:r>
            <a:r>
              <a:rPr lang="en-US" sz="2400" dirty="0" err="1"/>
              <a:t>hanna</a:t>
            </a:r>
            <a:endParaRPr lang="en-US" sz="2400" dirty="0"/>
          </a:p>
          <a:p>
            <a:r>
              <a:rPr lang="en-US" sz="2400" dirty="0"/>
              <a:t>ID : 933250076 </a:t>
            </a:r>
          </a:p>
          <a:p>
            <a:r>
              <a:rPr lang="en-US" sz="2400" dirty="0"/>
              <a:t>University: Helwan 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1082153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0984A80-DD00-3A9A-2915-E95A093DE7AD}"/>
              </a:ext>
            </a:extLst>
          </p:cNvPr>
          <p:cNvSpPr txBox="1"/>
          <p:nvPr/>
        </p:nvSpPr>
        <p:spPr>
          <a:xfrm>
            <a:off x="5415280" y="1706880"/>
            <a:ext cx="60147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 Overview</a:t>
            </a:r>
          </a:p>
          <a:p>
            <a:r>
              <a:rPr lang="en-US" sz="2400" dirty="0"/>
              <a:t>Goal: A live sign language recognition system to bridge communication gaps.</a:t>
            </a:r>
          </a:p>
          <a:p>
            <a:r>
              <a:rPr lang="en-US" sz="2400" dirty="0"/>
              <a:t>How it Works:</a:t>
            </a:r>
          </a:p>
          <a:p>
            <a:r>
              <a:rPr lang="en-US" sz="2400" dirty="0"/>
              <a:t>Capturing Frames: Opening the camera using OpenCV to read hand signs in real-time.</a:t>
            </a:r>
          </a:p>
          <a:p>
            <a:r>
              <a:rPr lang="en-US" sz="2400" dirty="0"/>
              <a:t>Extracting Landmarks: </a:t>
            </a:r>
            <a:r>
              <a:rPr lang="en-US" sz="2400" dirty="0" err="1"/>
              <a:t>MediaPipe</a:t>
            </a:r>
            <a:r>
              <a:rPr lang="en-US" sz="2400" dirty="0"/>
              <a:t> detects the hand and tracks 21 </a:t>
            </a:r>
            <a:r>
              <a:rPr lang="en-US" sz="2400" dirty="0" err="1"/>
              <a:t>keypoints</a:t>
            </a:r>
            <a:r>
              <a:rPr lang="en-US" sz="2400" dirty="0"/>
              <a:t>.</a:t>
            </a:r>
          </a:p>
          <a:p>
            <a:r>
              <a:rPr lang="en-US" sz="2400" dirty="0"/>
              <a:t>Classification: Machine learning models analyze these points to predict the correct letter or number.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Brain In Head">
                <a:extLst>
                  <a:ext uri="{FF2B5EF4-FFF2-40B4-BE49-F238E27FC236}">
                    <a16:creationId xmlns:a16="http://schemas.microsoft.com/office/drawing/2014/main" id="{8CEFBDF6-A28F-669B-2EA7-023AADCE5A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7016432"/>
                  </p:ext>
                </p:extLst>
              </p:nvPr>
            </p:nvGraphicFramePr>
            <p:xfrm>
              <a:off x="535775" y="960053"/>
              <a:ext cx="4303089" cy="468389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303089" cy="4683893"/>
                    </a:xfrm>
                    <a:prstGeom prst="rect">
                      <a:avLst/>
                    </a:prstGeom>
                  </am3d:spPr>
                  <am3d:camera>
                    <am3d:pos x="0" y="0" z="7448911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8218" d="1000000"/>
                    <am3d:preTrans dx="-144" dy="-18000000" dz="1196781"/>
                    <am3d:scale>
                      <am3d:sx n="1000000" d="1000000"/>
                      <am3d:sy n="1000000" d="1000000"/>
                      <am3d:sz n="1000000" d="1000000"/>
                    </am3d:scale>
                    <am3d:rot ax="272398" ay="-2745612" az="-19534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7402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Brain In Head">
                <a:extLst>
                  <a:ext uri="{FF2B5EF4-FFF2-40B4-BE49-F238E27FC236}">
                    <a16:creationId xmlns:a16="http://schemas.microsoft.com/office/drawing/2014/main" id="{8CEFBDF6-A28F-669B-2EA7-023AADCE5A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775" y="960053"/>
                <a:ext cx="4303089" cy="468389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1396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65F5D9-D8E6-5D63-FB1E-CCAA0B5C8CE2}"/>
              </a:ext>
            </a:extLst>
          </p:cNvPr>
          <p:cNvSpPr txBox="1"/>
          <p:nvPr/>
        </p:nvSpPr>
        <p:spPr>
          <a:xfrm>
            <a:off x="762000" y="995680"/>
            <a:ext cx="6096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Here is a quick breakdown of the Dataset &amp; Structure behind the project:</a:t>
            </a:r>
          </a:p>
          <a:p>
            <a:r>
              <a:rPr lang="en-US" sz="2000" dirty="0"/>
              <a:t>📊 Total Scale: A diverse dataset containing 3,623 images specifically curated for sign language gestures.</a:t>
            </a:r>
          </a:p>
          <a:p>
            <a:endParaRPr lang="en-US" sz="2000" dirty="0"/>
          </a:p>
          <a:p>
            <a:r>
              <a:rPr lang="en-US" sz="2000" dirty="0"/>
              <a:t>Training Samples: 2,664 images used to actually train the models.</a:t>
            </a:r>
          </a:p>
          <a:p>
            <a:endParaRPr lang="en-US" sz="2000" dirty="0"/>
          </a:p>
          <a:p>
            <a:r>
              <a:rPr lang="en-US" sz="2000" dirty="0"/>
              <a:t>🔢 Numbers (0–9): Each digit category is represented by 70 clean images to ensure consistent recognition.</a:t>
            </a:r>
          </a:p>
          <a:p>
            <a:r>
              <a:rPr lang="en-US" sz="2000" dirty="0"/>
              <a:t>🔤 Alphabets (A–Z): Each letter category ranges between 107 to 117 images, capturing natural variations in hand signs.</a:t>
            </a:r>
          </a:p>
          <a:p>
            <a:endParaRPr lang="en-US" sz="2000" dirty="0"/>
          </a:p>
          <a:p>
            <a:r>
              <a:rPr lang="en-US" sz="2000" dirty="0"/>
              <a:t>🗂️ Data Organization: Structured systematically into dedicated directories for seamless pipeline ingestion and training.</a:t>
            </a:r>
          </a:p>
        </p:txBody>
      </p:sp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A9ABDC9D-C301-E415-90A6-079C3FEA24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15758" y="942339"/>
            <a:ext cx="1828801" cy="1513839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Printable numbers">
                <a:extLst>
                  <a:ext uri="{FF2B5EF4-FFF2-40B4-BE49-F238E27FC236}">
                    <a16:creationId xmlns:a16="http://schemas.microsoft.com/office/drawing/2014/main" id="{8FF97C95-D20D-2558-374C-4E985253C98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06493306"/>
                  </p:ext>
                </p:extLst>
              </p:nvPr>
            </p:nvGraphicFramePr>
            <p:xfrm>
              <a:off x="7161748" y="2996695"/>
              <a:ext cx="2318583" cy="168706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318583" cy="1687066"/>
                    </a:xfrm>
                    <a:prstGeom prst="rect">
                      <a:avLst/>
                    </a:prstGeom>
                  </am3d:spPr>
                  <am3d:camera>
                    <am3d:pos x="0" y="0" z="5337529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56235" d="1000000"/>
                    <am3d:preTrans dx="-18" dy="-950225" dz="361"/>
                    <am3d:scale>
                      <am3d:sx n="1000000" d="1000000"/>
                      <am3d:sy n="1000000" d="1000000"/>
                      <am3d:sz n="1000000" d="1000000"/>
                    </am3d:scale>
                    <am3d:rot ax="5564037" ay="-45426" az="92798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60365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Printable numbers">
                <a:extLst>
                  <a:ext uri="{FF2B5EF4-FFF2-40B4-BE49-F238E27FC236}">
                    <a16:creationId xmlns:a16="http://schemas.microsoft.com/office/drawing/2014/main" id="{8FF97C95-D20D-2558-374C-4E985253C98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1748" y="2996695"/>
                <a:ext cx="2318583" cy="168706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D748D5C-0EBF-FB2B-3E1A-5E7E6787B534}"/>
              </a:ext>
            </a:extLst>
          </p:cNvPr>
          <p:cNvSpPr/>
          <p:nvPr/>
        </p:nvSpPr>
        <p:spPr>
          <a:xfrm>
            <a:off x="11206480" y="901445"/>
            <a:ext cx="873760" cy="843533"/>
          </a:xfrm>
          <a:prstGeom prst="flowChartConnecto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70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1C15FF-D3AE-F5EA-B07D-2B29BB2C57CE}"/>
              </a:ext>
            </a:extLst>
          </p:cNvPr>
          <p:cNvSpPr txBox="1"/>
          <p:nvPr/>
        </p:nvSpPr>
        <p:spPr>
          <a:xfrm>
            <a:off x="254000" y="1114981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Tech Stack &amp; What We Used:</a:t>
            </a:r>
          </a:p>
          <a:p>
            <a:r>
              <a:rPr lang="en-US" sz="2400" dirty="0" err="1"/>
              <a:t>os</a:t>
            </a:r>
            <a:r>
              <a:rPr lang="en-US" sz="2400" dirty="0"/>
              <a:t> library</a:t>
            </a:r>
            <a:r>
              <a:rPr lang="en-US" sz="2000" dirty="0"/>
              <a:t>: To loop through the folders and check how many images we have in each category.</a:t>
            </a:r>
          </a:p>
          <a:p>
            <a:r>
              <a:rPr lang="en-US" sz="2000" dirty="0"/>
              <a:t>OpenCV &amp; </a:t>
            </a:r>
            <a:r>
              <a:rPr lang="en-US" sz="2000" dirty="0" err="1"/>
              <a:t>MediaPipe</a:t>
            </a:r>
            <a:r>
              <a:rPr lang="en-US" sz="2000" dirty="0"/>
              <a:t>: To open the camera, process frames, and extract the 21 hand landmarks.</a:t>
            </a:r>
          </a:p>
          <a:p>
            <a:r>
              <a:rPr lang="en-US" sz="2400" dirty="0"/>
              <a:t>NumPy</a:t>
            </a:r>
            <a:r>
              <a:rPr lang="en-US" sz="2000" dirty="0"/>
              <a:t>: To handle arrays and numerical data smoothly.</a:t>
            </a:r>
          </a:p>
          <a:p>
            <a:r>
              <a:rPr lang="en-US" sz="2000" dirty="0"/>
              <a:t>Scikit-Learn (</a:t>
            </a:r>
            <a:r>
              <a:rPr lang="en-US" sz="2000" dirty="0" err="1"/>
              <a:t>model_selection</a:t>
            </a:r>
            <a:r>
              <a:rPr lang="en-US" sz="2000" dirty="0"/>
              <a:t>): To split our data into training and testing sets.</a:t>
            </a:r>
          </a:p>
          <a:p>
            <a:r>
              <a:rPr lang="en-US" sz="2400" dirty="0"/>
              <a:t>Machine Learning Models (SVM, Random Forest, Decision Tree): </a:t>
            </a:r>
            <a:r>
              <a:rPr lang="en-US" sz="2000" dirty="0"/>
              <a:t>The brains we trained to actually recognize the signs and classify them.</a:t>
            </a:r>
          </a:p>
          <a:p>
            <a:r>
              <a:rPr lang="en-US" sz="2400" dirty="0"/>
              <a:t>Matplotlib</a:t>
            </a:r>
            <a:r>
              <a:rPr lang="en-US" sz="2000" dirty="0"/>
              <a:t>: To plot and visualize our results and the Confusion Matrix to see how well each model performed!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AEAECE-B66B-D243-2AEB-A3A0D6D01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40" y="1376441"/>
            <a:ext cx="3749040" cy="35205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45089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39F272-5F65-E97C-0FC8-3AEE09CAE086}"/>
              </a:ext>
            </a:extLst>
          </p:cNvPr>
          <p:cNvSpPr txBox="1"/>
          <p:nvPr/>
        </p:nvSpPr>
        <p:spPr>
          <a:xfrm>
            <a:off x="193040" y="1720840"/>
            <a:ext cx="69799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Random Forest: Achieved the highest accuracy at 90.62%, making it the best-performing model for this project! 🏆</a:t>
            </a:r>
          </a:p>
          <a:p>
            <a:r>
              <a:rPr lang="en-US" sz="2400" dirty="0"/>
              <a:t>SVM (Support Vector Machine): Achieved 78.80% accuracy.</a:t>
            </a:r>
          </a:p>
          <a:p>
            <a:r>
              <a:rPr lang="en-US" sz="2400" dirty="0"/>
              <a:t>Decision Tree: Achieved 74.11% accuracy.</a:t>
            </a:r>
          </a:p>
          <a:p>
            <a:r>
              <a:rPr lang="en-US" sz="2400" dirty="0"/>
              <a:t>Conclusion: Random Forest gave us the most accurate and reliable results for real-time sign language classification.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AC693-A0BC-2E15-8F46-04A3EB2DE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80" y="12680"/>
            <a:ext cx="3383280" cy="34163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2D14B2-2759-AE05-E59C-A862E9FA4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440" y="3807470"/>
            <a:ext cx="4206240" cy="25171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3444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D3AC6B-150B-8E9C-BF03-70086778286B}"/>
              </a:ext>
            </a:extLst>
          </p:cNvPr>
          <p:cNvSpPr txBox="1"/>
          <p:nvPr/>
        </p:nvSpPr>
        <p:spPr>
          <a:xfrm>
            <a:off x="3241040" y="247772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/>
              <a:t>Thank You</a:t>
            </a:r>
          </a:p>
        </p:txBody>
      </p:sp>
      <p:pic>
        <p:nvPicPr>
          <p:cNvPr id="5" name="Graphic 4" descr="Winking face with solid fill with solid fill">
            <a:extLst>
              <a:ext uri="{FF2B5EF4-FFF2-40B4-BE49-F238E27FC236}">
                <a16:creationId xmlns:a16="http://schemas.microsoft.com/office/drawing/2014/main" id="{8EF735FD-D2C5-F4DD-AC8F-2CF9BC6881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3680" y="27990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323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{E1DCF361-AFBF-41E2-8142-69CA3DC1280D}TFb5ae2469-0bae-4978-b0e0-39dd046150ff9a115ede-a9c3cc5252b0</Template>
  <TotalTime>84</TotalTime>
  <Words>356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Gallal</dc:creator>
  <cp:lastModifiedBy>Ahmed Gallal</cp:lastModifiedBy>
  <cp:revision>2</cp:revision>
  <dcterms:created xsi:type="dcterms:W3CDTF">2026-09-18T22:36:50Z</dcterms:created>
  <dcterms:modified xsi:type="dcterms:W3CDTF">2026-09-19T00:13:49Z</dcterms:modified>
</cp:coreProperties>
</file>